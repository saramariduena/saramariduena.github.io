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JURIMETRÍA ASISTIDA POR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2F4F7"/>
                </a:solidFill>
              </a:rPr>
              <a:t>Un modelo pedagógico de tres fases para la enseñanza del
análisis empírico del Derecho en facultades de Ecuador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926080"/>
            <a:ext cx="4873752" cy="4572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F2E"/>
                </a:solidFill>
              </a:rPr>
              <a:t>Sara Mariduena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2F4F7"/>
                </a:solidFill>
              </a:rPr>
              <a:t>Universidad de Especialidades Espíritu Santo (UEES)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89F2E"/>
                </a:solidFill>
              </a:rPr>
              <a:t>Octubre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AACC"/>
                </a:solidFill>
              </a:rPr>
              <a:t>Tiempo: 15 min  |  Demo en vivo incluida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F2E"/>
                </a:solidFill>
              </a:rPr>
              <a:t>Enseñanza
teorica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2560320" cy="228600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463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F2E"/>
                </a:solidFill>
              </a:rPr>
              <a:t>Sin datos
empíricos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2560320" cy="228600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F2E"/>
                </a:solidFill>
              </a:rPr>
              <a:t>Semanas para
tabular a mano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228600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463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286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F2E"/>
                </a:solidFill>
              </a:rPr>
              <a:t>Software
costoso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931920"/>
            <a:ext cx="10360152" cy="1188720"/>
          </a:xfrm>
          <a:prstGeom prst="rect">
            <a:avLst/>
          </a:prstGeom>
          <a:solidFill>
            <a:srgbClr val="12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02336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89F2E"/>
                </a:solidFill>
              </a:rPr>
              <a:t>«Los estudiantes de Derecho aprenden teoría sin jamás
medir el sistema que aplican»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→  La jurimetría cambia eso — y no necesita infraestructura avanzada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¿QUÉ ES JURIMETRÍA?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solidFill>
            <a:srgbClr val="12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89F2E"/>
                </a:solidFill>
              </a:rPr>
              <a:t>Uso sistemático de métodos cuantitativos y empíricos
para el análisis del Derecho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✓  Convierte sentencias en datos medibles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✓  Responde preguntas como: ¿cuánto tarda un proceso? ¿qué derechos se invocan más?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7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✓  No predice sentencias — genera preguntas empíricas verificables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5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✓  Herramienta pedagógica: estudiante aprende a CUESTIONAR el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9F2E"/>
                </a:solidFill>
              </a:rPr>
              <a:t>✓  Una hoja de cálculo es suficiente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MODELO PEDAGÓGICO: 3 FASES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411480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64008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A5C"/>
                </a:solidFill>
              </a:rPr>
              <a:t>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F2E"/>
                </a:solidFill>
              </a:rPr>
              <a:t>📥  RECOPILAR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Seleccionar sentencias
de repositorios públicos
(EXPEL, Corte Constitucional)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411480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64008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070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A5C"/>
                </a:solidFill>
              </a:rPr>
              <a:t>FASE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F2E"/>
                </a:solidFill>
              </a:rPr>
              <a:t>🔍  EXTRAER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97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Identificar variables:
decisión, duración,
derechos invocados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411480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474720" cy="64008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2070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A5C"/>
                </a:solidFill>
              </a:rPr>
              <a:t>FASE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9F2E"/>
                </a:solidFill>
              </a:rPr>
              <a:t>📊  ANALIZAR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697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Estadísticas descriptivas
+ preguntas jurídicas
para discusión en clase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8346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F2E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8346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89F2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77840"/>
            <a:ext cx="11274552" cy="731520"/>
          </a:xfrm>
          <a:prstGeom prst="rect">
            <a:avLst/>
          </a:prstGeom>
          <a:solidFill>
            <a:srgbClr val="12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89F2E"/>
                </a:solidFill>
              </a:rPr>
              <a:t>Sin software especializado · Sin estadística avanzada · Una hoja de cálculo es suficiente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LOS 5 PASOS EN EL AULA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" cy="77724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A5C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188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9F2E"/>
                </a:solidFill>
              </a:rPr>
              <a:t>Elige un repositorio público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8191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4F7"/>
                </a:solidFill>
              </a:rPr>
              <a:t>EXPEL (Función Judicial) o Corte Constitucional → busca por materia, año, juzgado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822960" cy="77724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A5C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94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9F2E"/>
                </a:solidFill>
              </a:rPr>
              <a:t>Descarga o copia 10–30 sentencias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8775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4F7"/>
                </a:solidFill>
              </a:rPr>
              <a:t>Abre cada una y pega el texto en una fila de Excel · cada fila = una sentencia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822960" cy="77724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A5C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004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9F2E"/>
                </a:solidFill>
              </a:rPr>
              <a:t>Define tus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9359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4F7"/>
                </a:solidFill>
              </a:rPr>
              <a:t>Crea columnas: decisión, duración (días), derechos invocados, órgano, materia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822960" cy="77724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A5C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06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9F2E"/>
                </a:solidFill>
              </a:rPr>
              <a:t>Completa la tabla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9943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4F7"/>
                </a:solidFill>
              </a:rPr>
              <a:t>Lee cada sentencia y llena las celdas · 20 min para 10 sentencias · IA opcional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822960" cy="77724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3A5C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9F2E"/>
                </a:solidFill>
              </a:rPr>
              <a:t>Calcula y discute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6052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4F7"/>
                </a:solidFill>
              </a:rPr>
              <a:t>Frecuencias, promedio de duración · Pregunta: ¿qué explica estos datos jurídicamente?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DEMO EN VIVO —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89F2E"/>
                </a:solidFill>
              </a:rPr>
              <a:t>10 sentencias contencioso-administrativas · Tribunal de Guayas · 2018-2023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411480" cy="41148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7556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N°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154680" cy="41148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Número de causa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737360"/>
            <a:ext cx="1965960" cy="41148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7556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Decisión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737360"/>
            <a:ext cx="1965960" cy="41148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7556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Duración (días)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737360"/>
            <a:ext cx="3977640" cy="41148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755648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Derecho invocado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94560"/>
            <a:ext cx="11612880" cy="457200"/>
          </a:xfrm>
          <a:prstGeom prst="rect">
            <a:avLst/>
          </a:prstGeom>
          <a:solidFill>
            <a:srgbClr val="12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24027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240279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17252-2019-00043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240279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9F2E"/>
                </a:solidFill>
              </a:rPr>
              <a:t>Favorable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240279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1.248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240279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Debido proceso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679191"/>
            <a:ext cx="11612880" cy="45720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724911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24911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09282-2018-00891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724911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</a:rPr>
              <a:t>Desfavorable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724911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987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724911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Derecho al trabajo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63824"/>
            <a:ext cx="11612880" cy="457200"/>
          </a:xfrm>
          <a:prstGeom prst="rect">
            <a:avLst/>
          </a:prstGeom>
          <a:solidFill>
            <a:srgbClr val="12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20954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09544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09501-2020-00234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3209544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9F2E"/>
                </a:solidFill>
              </a:rPr>
              <a:t>Favorable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209544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209544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Derecho a la salud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648456"/>
            <a:ext cx="11612880" cy="45720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369417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694176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09282-2021-01102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369417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</a:rPr>
              <a:t>Desfavorable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694176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1.543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694176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Seguridad social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133087"/>
            <a:ext cx="11612880" cy="457200"/>
          </a:xfrm>
          <a:prstGeom prst="rect">
            <a:avLst/>
          </a:prstGeom>
          <a:solidFill>
            <a:srgbClr val="12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417880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178807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09501-2019-00567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4178807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9F2E"/>
                </a:solidFill>
              </a:rPr>
              <a:t>Favorable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178807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892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178807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Debido proceso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617720"/>
            <a:ext cx="11612880" cy="45720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46634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6634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46634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46634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4663440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 sentencias más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DEMO EN VIVO —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560320" cy="201168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560320" cy="9144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89F2E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sentencias
analizadas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2560320" cy="201168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560320" cy="9144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89F2E"/>
                </a:solidFill>
              </a:rPr>
              <a:t>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40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decisiones
favorables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2560320" cy="201168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2560320" cy="9144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89F2E"/>
                </a:solidFill>
              </a:rPr>
              <a:t>1.122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40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días promedio
de duración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188720"/>
            <a:ext cx="2560320" cy="201168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1188720"/>
            <a:ext cx="2560320" cy="9144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371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89F2E"/>
                </a:solidFill>
              </a:rPr>
              <a:t>89–90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40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días etapa
de prueba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F2E"/>
                </a:solidFill>
              </a:rPr>
              <a:t>HALLAZGO CLAVE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10332720" cy="1005840"/>
          </a:xfrm>
          <a:prstGeom prst="rect">
            <a:avLst/>
          </a:prstGeom>
          <a:solidFill>
            <a:srgbClr val="12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977639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La etapa de prueba es prácticamente uniforme (89-90 días) entre juzgados,
mientras la duración total varía hasta 3x — ¿qué lo explica jurídicamente?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4F7"/>
                </a:solidFill>
              </a:rPr>
              <a:t>Materia más frecuente: contencioso-administrativo (100%) · Derechos: trabajo, salud, seguridad social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FASE 3: PREGUNTAS PARA LA DISCUSIÓN JURÍDICA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94360" cy="82296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5C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¿Qué explica la distribución de decisiones?
¿Refleja la realidad del sistema o sesgos de la muestra?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76272"/>
            <a:ext cx="594360" cy="82296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67712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5C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21991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¿Qué casos quedaron fuera y por qué?
(sentencias sin texto, períodos no cubiertos)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63824"/>
            <a:ext cx="594360" cy="82296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255264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5C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09544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¿Qué variables relevantes NO captura este modelo?
(calidad argumentativa, complejidad del caso, recursos de las partes)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51376"/>
            <a:ext cx="594360" cy="82296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242816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5C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19709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¿Qué riesgos éticos plantea extrapolar estos promedios
a un caso individual concreto?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138928"/>
            <a:ext cx="594360" cy="82296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230368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5C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18464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Si hay variación de duración entre juzgados,
¿qué explicaciones jurídicas — no estadísticas — puedes ofrecer?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C89F2E"/>
                </a:solidFill>
              </a:rPr>
              <a:t>El valor de la jurimetría: formular preguntas empíricas, no predecir sentencias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EL ROL DE LA INTELIGENCIA ARTIFICIAL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212080" cy="438912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212080" cy="54864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A5C"/>
                </a:solidFill>
              </a:rPr>
              <a:t>SIN IA (aula básica)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Estudiante lee la sentencia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Llena columnas en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10 sentencias = 20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Aprende qué es cada 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Cero costo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17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Sin internet requerido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11112" y="1188720"/>
            <a:ext cx="5212080" cy="438912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11112" y="1188720"/>
            <a:ext cx="5212080" cy="5486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2552" y="12070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CON IA (aceleración)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3992" y="187451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⚡  Claude extrae variables automáticamente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2423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⚡  100 sentencias = mismos 20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2971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⚡  Ideal para investigación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35204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⚡  Requiere API key (~$0.001 / sentencia)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40690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⚡  Conexión a internet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4617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⚡  Opcional — no requerida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32704" y="30175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89F2E"/>
                </a:solidFill>
              </a:rPr>
              <a:t>VS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06440"/>
            <a:ext cx="11457432" cy="640080"/>
          </a:xfrm>
          <a:prstGeom prst="rect">
            <a:avLst/>
          </a:prstGeom>
          <a:solidFill>
            <a:srgbClr val="12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89F2E"/>
                </a:solidFill>
              </a:rPr>
              <a:t>Para la ponencia de hoy: todo el análisis se hizo SIN API — solo datos + Excel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IMPLEMENTACIÓN EN FACULTADES DE DERECHO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566160" cy="438912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566160" cy="64008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🎓 Taller de 2 horas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Fase 1 (30 min): seleccionar y descargar sentencias en grupos
Fase 2 (45 min): completar tabla en Excel colaborativo
Fase 3 (45 min): discusión jurídica guiada por las 5 preguntas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566160" cy="438912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64008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25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📋 Recursos necesarios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Computadora con Excel o Google Sheets
Acceso a EXPEL o Corte Constitucional
Plantilla de tabla (descargable)
Conexión a internet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3566160" cy="438912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566160" cy="64008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325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🔬 Producto académico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57400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Dataset jurídico propio de los estudiantes
Informe de hallazgos + preguntas de investigación
Base para trabajos de titulación empíricos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89F2E"/>
                </a:solidFill>
              </a:rPr>
              <a:t>Escalable: el mismo modelo aplica para acción de protección, habeas corpus, materia laboral…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89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4552" cy="713232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✦  La jurimetría es una competencia necesaria del jurista del siglo XXI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39"/>
            <a:ext cx="11274552" cy="713232"/>
          </a:xfrm>
          <a:prstGeom prst="rect">
            <a:avLst/>
          </a:prstGeom>
          <a:solidFill>
            <a:srgbClr val="12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✦  El modelo de 3 fases es aplicable en cualquier facultad sin infraestructura especial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74552" cy="713232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F2E"/>
                </a:solidFill>
              </a:rPr>
              <a:t>✦  Una hoja de cálculo es suficiente para enseñar análisis empírico del Derecho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11274552" cy="713232"/>
          </a:xfrm>
          <a:prstGeom prst="rect">
            <a:avLst/>
          </a:prstGeom>
          <a:solidFill>
            <a:srgbClr val="12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✦  La IA (Claude) reduce el tiempo de extracción de semanas a minutos — es opcional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54879"/>
            <a:ext cx="11274552" cy="713232"/>
          </a:xfrm>
          <a:prstGeom prst="rect">
            <a:avLst/>
          </a:prstGeom>
          <a:solidFill>
            <a:srgbClr val="2E5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✦  El objetivo no es predecir: es formular preguntas verificables sobre el sistema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sara.mariduena@uees.edu.ec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